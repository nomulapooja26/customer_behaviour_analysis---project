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Roboto" panose="020F0502020204030204" pitchFamily="2" charset="0"/>
      <p:regular r:id="rId13"/>
    </p:embeddedFont>
    <p:embeddedFont>
      <p:font typeface="Roboto Bold" panose="020B0604020202020204" charset="0"/>
      <p:regular r:id="rId14"/>
    </p:embeddedFont>
    <p:embeddedFont>
      <p:font typeface="Roboto Slab" panose="020F0502020204030204" pitchFamily="2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2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211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Analyzing 3,900 transactions across product categories to uncover spending patterns, customer segments, and subscription behavior for strategic decision-making.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07529"/>
            <a:ext cx="1223739" cy="266402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750019"/>
            <a:ext cx="151082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30635"/>
            <a:ext cx="530631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Data Behind the Insights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757065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3,900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909637" y="240201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Total Purchases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72433" y="1757065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18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3685952" y="240201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Columns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48747" y="1757065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37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462266" y="240201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2836069"/>
            <a:ext cx="22612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 Tracked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6119" y="3270126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demographics: Age, Gender, Location, Subscription Status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Purchase details: Item, Category, Amount, Season, Size, Color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Shopping behavior: Discount, Previous Purchases, Frequency, Rating, Shipping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119" y="420915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data in Review Rating was imputed using median ratings per product category.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0021"/>
            <a:ext cx="629171" cy="163562"/>
          </a:xfrm>
          <a:prstGeom prst="roundRect">
            <a:avLst>
              <a:gd name="adj" fmla="val 7151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554534" y="439192"/>
            <a:ext cx="969541" cy="105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EDA · PYTHON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600373"/>
            <a:ext cx="4689872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Preparation &amp; Cleaning Pipeline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05334"/>
            <a:ext cx="8151763" cy="3521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41329" y="3626645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Explore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441329" y="3909802"/>
            <a:ext cx="1210397" cy="297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.info() and .describe()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49316" y="3626645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Feature Eng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549316" y="3909802"/>
            <a:ext cx="1210397" cy="297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age groups and freq days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91193" y="1323058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Load Data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91193" y="1606215"/>
            <a:ext cx="1210397" cy="297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 CSVs with pandas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053279" y="1323058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Load to DB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053279" y="1606215"/>
            <a:ext cx="1210397" cy="297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cleaned table to PostgreSQL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014612" y="1323058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Handle Missing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014612" y="1826665"/>
            <a:ext cx="1210397" cy="297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Impute numeric medians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6119" y="4601840"/>
            <a:ext cx="86089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Columns standardized to snake case. Redundant promo_code_used column dropped after verifying overlap with discount_applied. Cleaned data loaded into PostgreSQL for SQL analysis.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18220"/>
            <a:ext cx="914698" cy="266402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60710"/>
            <a:ext cx="120178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4132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56383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24459"/>
            <a:ext cx="3902943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customers generated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$157,890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revenue — more than double the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$75,191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from female customers.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significant gap highlights a male-dominated customer base and points to gender-specific marketing opportunities.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17178"/>
            <a:ext cx="914698" cy="266402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59668"/>
            <a:ext cx="120178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40284"/>
            <a:ext cx="775535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Top-Rated Products &amp; Discount Dependence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637630"/>
            <a:ext cx="2533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 5 Products by Rating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96119" y="2018556"/>
            <a:ext cx="3902943" cy="2448223"/>
          </a:xfrm>
          <a:prstGeom prst="roundRect">
            <a:avLst>
              <a:gd name="adj" fmla="val 86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0881" y="2023318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2714" y="2113136"/>
            <a:ext cx="2507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81102" y="2113136"/>
            <a:ext cx="17286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0881" y="2429768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2714" y="2519586"/>
            <a:ext cx="2507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Gloves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81102" y="2519586"/>
            <a:ext cx="17286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3.86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0881" y="2836218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2714" y="2926035"/>
            <a:ext cx="2507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Sandals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81102" y="2926035"/>
            <a:ext cx="17286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3.84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0881" y="3242667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2714" y="3332485"/>
            <a:ext cx="2507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81102" y="3332485"/>
            <a:ext cx="17286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3.82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0881" y="3649117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2714" y="3738935"/>
            <a:ext cx="2507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81102" y="3738935"/>
            <a:ext cx="17286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3.80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0881" y="4055566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2714" y="4145384"/>
            <a:ext cx="2507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81102" y="4145384"/>
            <a:ext cx="17286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3.78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49701" y="1637630"/>
            <a:ext cx="34076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Most Discount-Dependent Products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749701" y="2018556"/>
            <a:ext cx="3902943" cy="2448223"/>
          </a:xfrm>
          <a:prstGeom prst="roundRect">
            <a:avLst>
              <a:gd name="adj" fmla="val 86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463" y="2023318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896296" y="2113136"/>
            <a:ext cx="2507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34684" y="2113136"/>
            <a:ext cx="17286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Discount Rate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463" y="2429768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96296" y="2519586"/>
            <a:ext cx="2507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34684" y="2519586"/>
            <a:ext cx="17286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50.00%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463" y="2836218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96296" y="2926035"/>
            <a:ext cx="2507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Sneakers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34684" y="2926035"/>
            <a:ext cx="17286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49.66%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463" y="3242667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896296" y="3332485"/>
            <a:ext cx="2507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Coat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34684" y="3332485"/>
            <a:ext cx="17286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49.07%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463" y="3649117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896296" y="3738935"/>
            <a:ext cx="2507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Sweater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34684" y="3738935"/>
            <a:ext cx="17286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48.17%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463" y="4055566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896296" y="4145384"/>
            <a:ext cx="2507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34684" y="4145384"/>
            <a:ext cx="17286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47.37%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5946"/>
            <a:ext cx="885825" cy="255240"/>
          </a:xfrm>
          <a:prstGeom prst="roundRect">
            <a:avLst>
              <a:gd name="adj" fmla="val 6457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578495" y="467097"/>
            <a:ext cx="1178272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34392"/>
            <a:ext cx="4357911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Segmentation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4658" y="2255639"/>
            <a:ext cx="1689199" cy="343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80%</a:t>
            </a:r>
            <a:endParaRPr lang="en-US" sz="2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93" y="1397347"/>
            <a:ext cx="2060004" cy="20600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0966" y="3624635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Loyal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6119" y="3918942"/>
            <a:ext cx="260642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3,116 customers with extensive purchase history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727326" y="2255639"/>
            <a:ext cx="1689199" cy="343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18%</a:t>
            </a:r>
            <a:endParaRPr lang="en-US" sz="2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1961" y="1397347"/>
            <a:ext cx="2060004" cy="20600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13634" y="3624635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268787" y="3918942"/>
            <a:ext cx="260642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701 customers making repeat purchases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99994" y="2255639"/>
            <a:ext cx="1689199" cy="343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2%</a:t>
            </a:r>
            <a:endParaRPr lang="en-US" sz="27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4629" y="1397347"/>
            <a:ext cx="2060004" cy="20600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86302" y="3624635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New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041454" y="3918942"/>
            <a:ext cx="260642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 first-time customers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96119" y="4501232"/>
            <a:ext cx="860896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overwhelmingly loyal base is a strength, but the small new-customer segment signals a need for acquisition-focused strategies.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57051" cy="110430"/>
          </a:xfrm>
          <a:prstGeom prst="roundRect">
            <a:avLst>
              <a:gd name="adj" fmla="val 7703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829270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ANALYSIS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31550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Subscribers vs. Non-Subscribers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89012"/>
            <a:ext cx="8151763" cy="456493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6119" y="5429176"/>
            <a:ext cx="3839766" cy="88553"/>
          </a:xfrm>
          <a:prstGeom prst="roundRect">
            <a:avLst>
              <a:gd name="adj" fmla="val 12007"/>
            </a:avLst>
          </a:prstGeom>
          <a:solidFill>
            <a:srgbClr val="E9ECF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5429176"/>
            <a:ext cx="1036737" cy="885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89016" y="5429101"/>
            <a:ext cx="160809" cy="88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27%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496119" y="5579715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Subscribed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496119" y="5711651"/>
            <a:ext cx="40537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1,053 customers · Avg spend $59.49</a:t>
            </a:r>
            <a:endParaRPr lang="en-US" sz="550" dirty="0"/>
          </a:p>
        </p:txBody>
      </p:sp>
      <p:sp>
        <p:nvSpPr>
          <p:cNvPr id="11" name="Shape 7"/>
          <p:cNvSpPr/>
          <p:nvPr/>
        </p:nvSpPr>
        <p:spPr>
          <a:xfrm>
            <a:off x="4594101" y="5429176"/>
            <a:ext cx="3840882" cy="88553"/>
          </a:xfrm>
          <a:prstGeom prst="roundRect">
            <a:avLst>
              <a:gd name="adj" fmla="val 12007"/>
            </a:avLst>
          </a:prstGeom>
          <a:solidFill>
            <a:srgbClr val="E9ECF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101" y="5429176"/>
            <a:ext cx="2803773" cy="8855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88114" y="5429101"/>
            <a:ext cx="159767" cy="88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73%</a:t>
            </a:r>
            <a:endParaRPr lang="en-US" sz="650" dirty="0"/>
          </a:p>
        </p:txBody>
      </p:sp>
      <p:sp>
        <p:nvSpPr>
          <p:cNvPr id="14" name="Text 9"/>
          <p:cNvSpPr/>
          <p:nvPr/>
        </p:nvSpPr>
        <p:spPr>
          <a:xfrm>
            <a:off x="4594101" y="5579715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Non-Subscribed</a:t>
            </a:r>
            <a:endParaRPr lang="en-US" sz="650" dirty="0"/>
          </a:p>
        </p:txBody>
      </p:sp>
      <p:sp>
        <p:nvSpPr>
          <p:cNvPr id="15" name="Text 10"/>
          <p:cNvSpPr/>
          <p:nvPr/>
        </p:nvSpPr>
        <p:spPr>
          <a:xfrm>
            <a:off x="4594101" y="5711651"/>
            <a:ext cx="405378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2,847 customers · Avg spend $59.87</a:t>
            </a:r>
            <a:endParaRPr lang="en-US" sz="550" dirty="0"/>
          </a:p>
        </p:txBody>
      </p:sp>
      <p:sp>
        <p:nvSpPr>
          <p:cNvPr id="16" name="Text 11"/>
          <p:cNvSpPr/>
          <p:nvPr/>
        </p:nvSpPr>
        <p:spPr>
          <a:xfrm>
            <a:off x="496119" y="5836518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Despite similar average spend, non-subscribers drive </a:t>
            </a:r>
            <a:r>
              <a:rPr lang="en-US" sz="5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73%</a:t>
            </a: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total revenue — a major untapped opportunity.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18220"/>
            <a:ext cx="914698" cy="266402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60710"/>
            <a:ext cx="120178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41325"/>
            <a:ext cx="418980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56383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24459"/>
            <a:ext cx="3902943" cy="1261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Young Adults lead with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$62,143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revenue, followed closely by Middle-aged at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$59,197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is relatively evenly distributed, but younger segments show the strongest contribution — guiding where marketing dollars should focus.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858962"/>
            <a:ext cx="683940" cy="266402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901452"/>
            <a:ext cx="97102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BI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182067"/>
            <a:ext cx="413928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Interactive Dashboard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1979414"/>
            <a:ext cx="24168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Metrics at a Glance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342629"/>
            <a:ext cx="21884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3.9K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Number of Customers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$59.76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Average Purchase Amount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3.75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Average Review Rating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035201" y="197941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Interactive Filters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35201" y="2342629"/>
            <a:ext cx="21884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Status &amp; Gender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Category (4 categories)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Shipping Type (6 options)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035201" y="3476551"/>
            <a:ext cx="21884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by category, age group, and sales volume visualized for real-time exploration.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0170"/>
            <a:ext cx="1263848" cy="266402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52661"/>
            <a:ext cx="155093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33276"/>
            <a:ext cx="678209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Strategic Business Recommendations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88864"/>
            <a:ext cx="2622724" cy="17147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22351" y="149520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6927" y="19558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6927" y="2262336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exclusive benefits to convert non-subscribers into loyal members.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601" y="1388864"/>
            <a:ext cx="2622724" cy="17147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86833" y="149520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21410" y="19558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21410" y="2262336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 repeat buyers to move them into the Loyal segment.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5083" y="1388864"/>
            <a:ext cx="2622724" cy="171472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51316" y="149520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185892" y="1955825"/>
            <a:ext cx="19585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185892" y="2262336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 sales boosts with margin control on high-discount products.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245346"/>
            <a:ext cx="4004965" cy="148790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413508" y="335168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56927" y="381230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56927" y="4118818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Highlight top-rated and best-selling products in marketing campaigns.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3245346"/>
            <a:ext cx="4004965" cy="148790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60232" y="335168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803651" y="381230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4803651" y="4118818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high-revenue age groups and express-shipping users.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523</Words>
  <Application>Microsoft Office PowerPoint</Application>
  <PresentationFormat>On-screen Show (16:9)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 Slab</vt:lpstr>
      <vt:lpstr>Arial</vt:lpstr>
      <vt:lpstr>Roboto Bold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Nomula Pooja</cp:lastModifiedBy>
  <cp:revision>1</cp:revision>
  <dcterms:created xsi:type="dcterms:W3CDTF">2026-06-23T15:47:26Z</dcterms:created>
  <dcterms:modified xsi:type="dcterms:W3CDTF">2026-06-23T15:48:22Z</dcterms:modified>
</cp:coreProperties>
</file>